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2" r:id="rId3"/>
    <p:sldId id="283" r:id="rId4"/>
    <p:sldId id="284" r:id="rId5"/>
    <p:sldId id="257" r:id="rId6"/>
    <p:sldId id="280" r:id="rId7"/>
    <p:sldId id="279" r:id="rId8"/>
    <p:sldId id="285" r:id="rId9"/>
    <p:sldId id="281" r:id="rId10"/>
    <p:sldId id="278" r:id="rId11"/>
  </p:sldIdLst>
  <p:sldSz cx="18288000" cy="10287000"/>
  <p:notesSz cx="6858000" cy="9144000"/>
  <p:embeddedFontLst>
    <p:embeddedFont>
      <p:font typeface="Cormorant Garamond Bold Italics" panose="020B0604020202020204" charset="0"/>
      <p:regular r:id="rId12"/>
    </p:embeddedFont>
    <p:embeddedFont>
      <p:font typeface="Cormorant Garamond Italics" panose="020B0604020202020204" charset="0"/>
      <p:regular r:id="rId13"/>
    </p:embeddedFont>
    <p:embeddedFont>
      <p:font typeface="Glacial Indifferenc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hyperlink" Target="https://www.kaggle.com/datasets/uciml/pima-indians-diabetes-database/data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809790" y="5826116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1944173" y="1028700"/>
            <a:ext cx="0" cy="8548621"/>
          </a:xfrm>
          <a:prstGeom prst="line">
            <a:avLst/>
          </a:prstGeom>
          <a:ln w="57150" cap="flat">
            <a:solidFill>
              <a:srgbClr val="2D38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944173" y="990600"/>
            <a:ext cx="3199710" cy="3199710"/>
          </a:xfrm>
          <a:custGeom>
            <a:avLst/>
            <a:gdLst/>
            <a:ahLst/>
            <a:cxnLst/>
            <a:rect l="l" t="t" r="r" b="b"/>
            <a:pathLst>
              <a:path w="3199710" h="3199710">
                <a:moveTo>
                  <a:pt x="0" y="0"/>
                </a:moveTo>
                <a:lnTo>
                  <a:pt x="3199710" y="0"/>
                </a:lnTo>
                <a:lnTo>
                  <a:pt x="3199710" y="3199710"/>
                </a:lnTo>
                <a:lnTo>
                  <a:pt x="0" y="31997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30623" y="3848100"/>
            <a:ext cx="14026753" cy="821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999"/>
              </a:lnSpc>
            </a:pPr>
            <a:r>
              <a:rPr lang="en-US" sz="9600" i="1" dirty="0">
                <a:solidFill>
                  <a:srgbClr val="101437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PIMA Diabetes Data Analysis</a:t>
            </a:r>
          </a:p>
          <a:p>
            <a:pPr marL="0" lvl="0" indent="0" algn="l">
              <a:lnSpc>
                <a:spcPts val="12999"/>
              </a:lnSpc>
            </a:pPr>
            <a:r>
              <a:rPr lang="en-US" sz="4400" i="1" dirty="0">
                <a:solidFill>
                  <a:srgbClr val="101437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								By </a:t>
            </a:r>
            <a:r>
              <a:rPr lang="en-US" sz="4400" b="1" i="1" dirty="0">
                <a:solidFill>
                  <a:srgbClr val="101437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Ajit </a:t>
            </a:r>
            <a:r>
              <a:rPr lang="en-US" sz="4400" b="1" i="1" dirty="0" err="1">
                <a:solidFill>
                  <a:srgbClr val="101437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Saunshikar</a:t>
            </a:r>
            <a:endParaRPr lang="en-US" sz="4400" b="1" i="1" dirty="0">
              <a:solidFill>
                <a:srgbClr val="101437"/>
              </a:solidFill>
              <a:latin typeface="Cormorant Garamond Italics"/>
              <a:ea typeface="Cormorant Garamond Italics"/>
              <a:cs typeface="Cormorant Garamond Italics"/>
              <a:sym typeface="Cormorant Garamond Italics"/>
            </a:endParaRPr>
          </a:p>
          <a:p>
            <a:pPr marL="0" lvl="0" indent="0" algn="l">
              <a:lnSpc>
                <a:spcPts val="12999"/>
              </a:lnSpc>
            </a:pPr>
            <a:r>
              <a:rPr lang="en-US" sz="4400" i="1" dirty="0">
                <a:solidFill>
                  <a:srgbClr val="101437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								Mentored By </a:t>
            </a:r>
            <a:r>
              <a:rPr lang="en-US" sz="4400" b="1" i="1" dirty="0">
                <a:solidFill>
                  <a:srgbClr val="101437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Manoj Kumar</a:t>
            </a:r>
          </a:p>
          <a:p>
            <a:pPr marL="0" lvl="0" indent="0" algn="l">
              <a:lnSpc>
                <a:spcPts val="12999"/>
              </a:lnSpc>
            </a:pPr>
            <a:r>
              <a:rPr lang="en-US" sz="4400" i="1" dirty="0">
                <a:solidFill>
                  <a:srgbClr val="101437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									</a:t>
            </a:r>
          </a:p>
          <a:p>
            <a:pPr marL="0" lvl="0" indent="0" algn="l">
              <a:lnSpc>
                <a:spcPts val="12999"/>
              </a:lnSpc>
            </a:pPr>
            <a:endParaRPr lang="en-US" sz="8000" i="1" dirty="0">
              <a:solidFill>
                <a:srgbClr val="101437"/>
              </a:solidFill>
              <a:latin typeface="Cormorant Garamond Italics"/>
              <a:ea typeface="Cormorant Garamond Italics"/>
              <a:cs typeface="Cormorant Garamond Italics"/>
              <a:sym typeface="Cormorant Garamond Itali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7620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11606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5" y="0"/>
                </a:lnTo>
                <a:lnTo>
                  <a:pt x="3700205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8600" y="495300"/>
            <a:ext cx="17602200" cy="9067800"/>
          </a:xfrm>
          <a:custGeom>
            <a:avLst/>
            <a:gdLst/>
            <a:ahLst/>
            <a:cxnLst/>
            <a:rect l="l" t="t" r="r" b="b"/>
            <a:pathLst>
              <a:path w="10184493" h="8966740">
                <a:moveTo>
                  <a:pt x="0" y="0"/>
                </a:moveTo>
                <a:lnTo>
                  <a:pt x="10184493" y="0"/>
                </a:lnTo>
                <a:lnTo>
                  <a:pt x="10184493" y="8966740"/>
                </a:lnTo>
                <a:lnTo>
                  <a:pt x="0" y="896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3000"/>
            </a:blip>
            <a:stretch>
              <a:fillRect t="-13580"/>
            </a:stretch>
          </a:blipFill>
        </p:spPr>
        <p:txBody>
          <a:bodyPr/>
          <a:lstStyle/>
          <a:p>
            <a:pPr algn="ctr"/>
            <a:r>
              <a:rPr lang="en-US" sz="4800" b="1" dirty="0"/>
              <a:t>Diabetes Data Analysis</a:t>
            </a:r>
          </a:p>
          <a:p>
            <a:pPr algn="ctr"/>
            <a:endParaRPr lang="en-US" sz="4400" dirty="0"/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IN" sz="4000" b="1" i="0" dirty="0">
                <a:solidFill>
                  <a:srgbClr val="202124"/>
                </a:solidFill>
                <a:effectLst/>
                <a:latin typeface="Inter"/>
              </a:rPr>
              <a:t>Pima Indians Diabetes Database </a:t>
            </a:r>
            <a:r>
              <a:rPr lang="en-IN" sz="4000" i="0" dirty="0">
                <a:solidFill>
                  <a:srgbClr val="202124"/>
                </a:solidFill>
                <a:effectLst/>
                <a:latin typeface="Inter"/>
              </a:rPr>
              <a:t>is </a:t>
            </a:r>
            <a:r>
              <a:rPr lang="en-US" sz="4000" dirty="0"/>
              <a:t>from Kaggle.</a:t>
            </a:r>
            <a:r>
              <a:rPr lang="en-US" sz="4000" b="0" i="0" dirty="0">
                <a:solidFill>
                  <a:srgbClr val="3C4043"/>
                </a:solidFill>
                <a:effectLst/>
                <a:latin typeface="Inter"/>
              </a:rPr>
              <a:t> This dataset is originally from the National Institute of Diabetes and Digestive and Kidney Diseases. The objective of the dataset is to diagnostically predict whether or not a patient has diabetes, based on certain diagnostic measurements</a:t>
            </a:r>
            <a:r>
              <a:rPr lang="en-US" sz="4000" dirty="0"/>
              <a:t>. </a:t>
            </a:r>
          </a:p>
          <a:p>
            <a:pPr algn="just"/>
            <a:r>
              <a:rPr lang="en-US" sz="4000" dirty="0" err="1"/>
              <a:t>Source:</a:t>
            </a:r>
            <a:r>
              <a:rPr lang="en-US" sz="3600" dirty="0" err="1">
                <a:hlinkClick r:id="rId7"/>
              </a:rPr>
              <a:t>https</a:t>
            </a:r>
            <a:r>
              <a:rPr lang="en-US" sz="3600" dirty="0">
                <a:hlinkClick r:id="rId7"/>
              </a:rPr>
              <a:t>://www.kaggle.com/datasets/uciml/pima-indians-diabetes-database/data</a:t>
            </a:r>
            <a:br>
              <a:rPr lang="en-US" sz="4000" dirty="0"/>
            </a:br>
            <a:endParaRPr lang="en-US" sz="4000" dirty="0"/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4000" dirty="0"/>
              <a:t>The dataset consists of </a:t>
            </a:r>
            <a:r>
              <a:rPr lang="en-US" sz="4000" b="1" dirty="0"/>
              <a:t>768 records</a:t>
            </a:r>
            <a:r>
              <a:rPr lang="en-US" sz="4000" dirty="0"/>
              <a:t> with </a:t>
            </a:r>
            <a:r>
              <a:rPr lang="en-US" sz="4000" b="1" dirty="0"/>
              <a:t>9 Columns</a:t>
            </a:r>
            <a:endParaRPr lang="en-US" sz="4000" dirty="0"/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IN" sz="4000" dirty="0"/>
              <a:t>We will do a EDA on this data set.</a:t>
            </a:r>
          </a:p>
          <a:p>
            <a:endParaRPr lang="en-US" sz="4000" dirty="0"/>
          </a:p>
          <a:p>
            <a:endParaRPr lang="en-US" sz="4400" dirty="0"/>
          </a:p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>
            <a:off x="14692287" y="8448965"/>
            <a:ext cx="1618669" cy="1618669"/>
          </a:xfrm>
          <a:custGeom>
            <a:avLst/>
            <a:gdLst/>
            <a:ahLst/>
            <a:cxnLst/>
            <a:rect l="l" t="t" r="r" b="b"/>
            <a:pathLst>
              <a:path w="1618669" h="1618669">
                <a:moveTo>
                  <a:pt x="0" y="0"/>
                </a:moveTo>
                <a:lnTo>
                  <a:pt x="1618669" y="0"/>
                </a:lnTo>
                <a:lnTo>
                  <a:pt x="1618669" y="1618670"/>
                </a:lnTo>
                <a:lnTo>
                  <a:pt x="0" y="1618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627378" y="9625285"/>
            <a:ext cx="3388490" cy="426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2188" spc="267" dirty="0">
                <a:solidFill>
                  <a:srgbClr val="101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www.sivaacademy.net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98844" y="971550"/>
            <a:ext cx="11290311" cy="98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endParaRPr dirty="0"/>
          </a:p>
          <a:p>
            <a:pPr algn="l">
              <a:lnSpc>
                <a:spcPts val="4004"/>
              </a:lnSpc>
            </a:pPr>
            <a:endParaRPr lang="en-US" sz="286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2039C-8144-2007-FE1C-AF9DD867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A93CBD-9A11-4771-E86B-B71E605B0DB0}"/>
              </a:ext>
            </a:extLst>
          </p:cNvPr>
          <p:cNvSpPr/>
          <p:nvPr/>
        </p:nvSpPr>
        <p:spPr>
          <a:xfrm flipV="1">
            <a:off x="-7620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F9F8FFC-158B-808D-C930-0890747F942B}"/>
              </a:ext>
            </a:extLst>
          </p:cNvPr>
          <p:cNvSpPr/>
          <p:nvPr/>
        </p:nvSpPr>
        <p:spPr>
          <a:xfrm>
            <a:off x="14611606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5" y="0"/>
                </a:lnTo>
                <a:lnTo>
                  <a:pt x="3700205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2BA801D-DC5E-D04F-6F42-103FE62119EC}"/>
              </a:ext>
            </a:extLst>
          </p:cNvPr>
          <p:cNvSpPr/>
          <p:nvPr/>
        </p:nvSpPr>
        <p:spPr>
          <a:xfrm>
            <a:off x="228600" y="495300"/>
            <a:ext cx="17602200" cy="9067800"/>
          </a:xfrm>
          <a:custGeom>
            <a:avLst/>
            <a:gdLst/>
            <a:ahLst/>
            <a:cxnLst/>
            <a:rect l="l" t="t" r="r" b="b"/>
            <a:pathLst>
              <a:path w="10184493" h="8966740">
                <a:moveTo>
                  <a:pt x="0" y="0"/>
                </a:moveTo>
                <a:lnTo>
                  <a:pt x="10184493" y="0"/>
                </a:lnTo>
                <a:lnTo>
                  <a:pt x="10184493" y="8966740"/>
                </a:lnTo>
                <a:lnTo>
                  <a:pt x="0" y="896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3000"/>
            </a:blip>
            <a:stretch>
              <a:fillRect t="-13580"/>
            </a:stretch>
          </a:blipFill>
        </p:spPr>
        <p:txBody>
          <a:bodyPr/>
          <a:lstStyle/>
          <a:p>
            <a:pPr algn="ctr"/>
            <a:r>
              <a:rPr lang="en-US" sz="4800" b="1" dirty="0"/>
              <a:t>Features Details</a:t>
            </a:r>
          </a:p>
          <a:p>
            <a:pPr algn="ctr"/>
            <a:endParaRPr lang="en-US" sz="4400" dirty="0"/>
          </a:p>
          <a:p>
            <a:pPr algn="just"/>
            <a:endParaRPr lang="en-IN" sz="4000" dirty="0"/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IN" sz="4000" dirty="0"/>
          </a:p>
          <a:p>
            <a:endParaRPr lang="en-US" sz="4000" dirty="0"/>
          </a:p>
          <a:p>
            <a:endParaRPr lang="en-US" sz="4400" dirty="0"/>
          </a:p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482915F-130C-4BF1-BBFA-B96F0B23E87F}"/>
              </a:ext>
            </a:extLst>
          </p:cNvPr>
          <p:cNvSpPr/>
          <p:nvPr/>
        </p:nvSpPr>
        <p:spPr>
          <a:xfrm>
            <a:off x="14692287" y="8448965"/>
            <a:ext cx="1618669" cy="1618669"/>
          </a:xfrm>
          <a:custGeom>
            <a:avLst/>
            <a:gdLst/>
            <a:ahLst/>
            <a:cxnLst/>
            <a:rect l="l" t="t" r="r" b="b"/>
            <a:pathLst>
              <a:path w="1618669" h="1618669">
                <a:moveTo>
                  <a:pt x="0" y="0"/>
                </a:moveTo>
                <a:lnTo>
                  <a:pt x="1618669" y="0"/>
                </a:lnTo>
                <a:lnTo>
                  <a:pt x="1618669" y="1618670"/>
                </a:lnTo>
                <a:lnTo>
                  <a:pt x="0" y="1618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2759763-8056-5D58-B2E7-E74584AE65DF}"/>
              </a:ext>
            </a:extLst>
          </p:cNvPr>
          <p:cNvSpPr txBox="1"/>
          <p:nvPr/>
        </p:nvSpPr>
        <p:spPr>
          <a:xfrm>
            <a:off x="7627378" y="9625285"/>
            <a:ext cx="3388490" cy="426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2188" spc="267" dirty="0">
                <a:solidFill>
                  <a:srgbClr val="101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www.sivaacademy.net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315A149-952F-B364-09E0-031427DAD487}"/>
              </a:ext>
            </a:extLst>
          </p:cNvPr>
          <p:cNvSpPr txBox="1"/>
          <p:nvPr/>
        </p:nvSpPr>
        <p:spPr>
          <a:xfrm>
            <a:off x="3498844" y="971550"/>
            <a:ext cx="11290311" cy="98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endParaRPr dirty="0"/>
          </a:p>
          <a:p>
            <a:pPr algn="l">
              <a:lnSpc>
                <a:spcPts val="4004"/>
              </a:lnSpc>
            </a:pPr>
            <a:endParaRPr lang="en-US" sz="286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DE20F7-187E-1BBE-7414-4A848F2EC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121348"/>
              </p:ext>
            </p:extLst>
          </p:nvPr>
        </p:nvGraphicFramePr>
        <p:xfrm>
          <a:off x="3690620" y="1446038"/>
          <a:ext cx="11811001" cy="7166324"/>
        </p:xfrm>
        <a:graphic>
          <a:graphicData uri="http://schemas.openxmlformats.org/drawingml/2006/table">
            <a:tbl>
              <a:tblPr/>
              <a:tblGrid>
                <a:gridCol w="1012372">
                  <a:extLst>
                    <a:ext uri="{9D8B030D-6E8A-4147-A177-3AD203B41FA5}">
                      <a16:colId xmlns:a16="http://schemas.microsoft.com/office/drawing/2014/main" val="1800053513"/>
                    </a:ext>
                  </a:extLst>
                </a:gridCol>
                <a:gridCol w="2552020">
                  <a:extLst>
                    <a:ext uri="{9D8B030D-6E8A-4147-A177-3AD203B41FA5}">
                      <a16:colId xmlns:a16="http://schemas.microsoft.com/office/drawing/2014/main" val="411703487"/>
                    </a:ext>
                  </a:extLst>
                </a:gridCol>
                <a:gridCol w="6938963">
                  <a:extLst>
                    <a:ext uri="{9D8B030D-6E8A-4147-A177-3AD203B41FA5}">
                      <a16:colId xmlns:a16="http://schemas.microsoft.com/office/drawing/2014/main" val="3301336755"/>
                    </a:ext>
                  </a:extLst>
                </a:gridCol>
                <a:gridCol w="1307646">
                  <a:extLst>
                    <a:ext uri="{9D8B030D-6E8A-4147-A177-3AD203B41FA5}">
                      <a16:colId xmlns:a16="http://schemas.microsoft.com/office/drawing/2014/main" val="854514944"/>
                    </a:ext>
                  </a:extLst>
                </a:gridCol>
              </a:tblGrid>
              <a:tr h="732086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Attribute-Name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Type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691487"/>
                  </a:ext>
                </a:extLst>
              </a:tr>
              <a:tr h="702803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Pregnancies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number of times the patient has been pregnant.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Numerical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784194"/>
                  </a:ext>
                </a:extLst>
              </a:tr>
              <a:tr h="702803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Glucose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glucose concentration after a 2-hour oral glucose tolerance test.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Numerical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431549"/>
                  </a:ext>
                </a:extLst>
              </a:tr>
              <a:tr h="702803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BloodPressure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Diastolic blood pressure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Numerical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332116"/>
                  </a:ext>
                </a:extLst>
              </a:tr>
              <a:tr h="702803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SkinThickness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Triceps skinfold thickness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Numerical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799"/>
                  </a:ext>
                </a:extLst>
              </a:tr>
              <a:tr h="702803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Insulin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2-hour serum insulin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Numerical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542369"/>
                  </a:ext>
                </a:extLst>
              </a:tr>
              <a:tr h="702803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BMI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Body Mass Index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Numerical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73098"/>
                  </a:ext>
                </a:extLst>
              </a:tr>
              <a:tr h="702803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DiabetesPedigreeFunction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function that scores the likelihood of diabetes based on family history.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Numerical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074848"/>
                  </a:ext>
                </a:extLst>
              </a:tr>
              <a:tr h="702803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Patient's Age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Numerical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427568"/>
                  </a:ext>
                </a:extLst>
              </a:tr>
              <a:tr h="732086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Outcome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Indicating whether Diabetic or not 0 or 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Numerical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02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079101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983F-051D-E423-E092-354801666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4EAF72-5082-626C-46FC-34CAFE344B00}"/>
              </a:ext>
            </a:extLst>
          </p:cNvPr>
          <p:cNvSpPr/>
          <p:nvPr/>
        </p:nvSpPr>
        <p:spPr>
          <a:xfrm flipV="1">
            <a:off x="-7620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D96BBDE-1D39-175D-B1EB-A702CB90DC31}"/>
              </a:ext>
            </a:extLst>
          </p:cNvPr>
          <p:cNvSpPr/>
          <p:nvPr/>
        </p:nvSpPr>
        <p:spPr>
          <a:xfrm>
            <a:off x="14611606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5" y="0"/>
                </a:lnTo>
                <a:lnTo>
                  <a:pt x="3700205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0DC7647-D5C5-91F9-09DB-3E6AF61DD64D}"/>
              </a:ext>
            </a:extLst>
          </p:cNvPr>
          <p:cNvSpPr/>
          <p:nvPr/>
        </p:nvSpPr>
        <p:spPr>
          <a:xfrm>
            <a:off x="228600" y="495300"/>
            <a:ext cx="17602200" cy="9067800"/>
          </a:xfrm>
          <a:custGeom>
            <a:avLst/>
            <a:gdLst/>
            <a:ahLst/>
            <a:cxnLst/>
            <a:rect l="l" t="t" r="r" b="b"/>
            <a:pathLst>
              <a:path w="10184493" h="8966740">
                <a:moveTo>
                  <a:pt x="0" y="0"/>
                </a:moveTo>
                <a:lnTo>
                  <a:pt x="10184493" y="0"/>
                </a:lnTo>
                <a:lnTo>
                  <a:pt x="10184493" y="8966740"/>
                </a:lnTo>
                <a:lnTo>
                  <a:pt x="0" y="896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3000"/>
            </a:blip>
            <a:stretch>
              <a:fillRect t="-13580"/>
            </a:stretch>
          </a:blipFill>
        </p:spPr>
        <p:txBody>
          <a:bodyPr/>
          <a:lstStyle/>
          <a:p>
            <a:pPr algn="ctr"/>
            <a:r>
              <a:rPr lang="en-US" sz="4800" b="1" dirty="0"/>
              <a:t>Non-Visual Statistical Analysis </a:t>
            </a:r>
          </a:p>
          <a:p>
            <a:pPr algn="ctr"/>
            <a:endParaRPr lang="en-US" sz="4400" dirty="0"/>
          </a:p>
          <a:p>
            <a:pPr algn="just"/>
            <a:endParaRPr lang="en-IN" sz="4000" dirty="0"/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IN" sz="4000" dirty="0"/>
          </a:p>
          <a:p>
            <a:endParaRPr lang="en-US" sz="4000" dirty="0"/>
          </a:p>
          <a:p>
            <a:endParaRPr lang="en-US" sz="4400" dirty="0"/>
          </a:p>
          <a:p>
            <a:r>
              <a:rPr lang="en-IN" dirty="0"/>
              <a:t> 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13398E7-9685-1850-2C43-884C71C08772}"/>
              </a:ext>
            </a:extLst>
          </p:cNvPr>
          <p:cNvSpPr/>
          <p:nvPr/>
        </p:nvSpPr>
        <p:spPr>
          <a:xfrm>
            <a:off x="14692287" y="8448965"/>
            <a:ext cx="1618669" cy="1618669"/>
          </a:xfrm>
          <a:custGeom>
            <a:avLst/>
            <a:gdLst/>
            <a:ahLst/>
            <a:cxnLst/>
            <a:rect l="l" t="t" r="r" b="b"/>
            <a:pathLst>
              <a:path w="1618669" h="1618669">
                <a:moveTo>
                  <a:pt x="0" y="0"/>
                </a:moveTo>
                <a:lnTo>
                  <a:pt x="1618669" y="0"/>
                </a:lnTo>
                <a:lnTo>
                  <a:pt x="1618669" y="1618670"/>
                </a:lnTo>
                <a:lnTo>
                  <a:pt x="0" y="1618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35422A5-7BCC-E11D-F97D-DC85C43AAAFA}"/>
              </a:ext>
            </a:extLst>
          </p:cNvPr>
          <p:cNvSpPr txBox="1"/>
          <p:nvPr/>
        </p:nvSpPr>
        <p:spPr>
          <a:xfrm>
            <a:off x="7627378" y="9625285"/>
            <a:ext cx="3388490" cy="426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2188" spc="267" dirty="0">
                <a:solidFill>
                  <a:srgbClr val="101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www.sivaacademy.net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C2FC572-2DC0-E097-2B92-D69590E0BEDD}"/>
              </a:ext>
            </a:extLst>
          </p:cNvPr>
          <p:cNvSpPr txBox="1"/>
          <p:nvPr/>
        </p:nvSpPr>
        <p:spPr>
          <a:xfrm>
            <a:off x="3498844" y="971550"/>
            <a:ext cx="11290311" cy="98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endParaRPr dirty="0"/>
          </a:p>
          <a:p>
            <a:pPr algn="l">
              <a:lnSpc>
                <a:spcPts val="4004"/>
              </a:lnSpc>
            </a:pPr>
            <a:endParaRPr lang="en-US" sz="286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FC28268-FDA7-1197-D51A-F5FC45740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579582"/>
              </p:ext>
            </p:extLst>
          </p:nvPr>
        </p:nvGraphicFramePr>
        <p:xfrm>
          <a:off x="4495800" y="1960922"/>
          <a:ext cx="9634796" cy="5392379"/>
        </p:xfrm>
        <a:graphic>
          <a:graphicData uri="http://schemas.openxmlformats.org/drawingml/2006/table">
            <a:tbl>
              <a:tblPr/>
              <a:tblGrid>
                <a:gridCol w="2627671">
                  <a:extLst>
                    <a:ext uri="{9D8B030D-6E8A-4147-A177-3AD203B41FA5}">
                      <a16:colId xmlns:a16="http://schemas.microsoft.com/office/drawing/2014/main" val="2478728753"/>
                    </a:ext>
                  </a:extLst>
                </a:gridCol>
                <a:gridCol w="1401425">
                  <a:extLst>
                    <a:ext uri="{9D8B030D-6E8A-4147-A177-3AD203B41FA5}">
                      <a16:colId xmlns:a16="http://schemas.microsoft.com/office/drawing/2014/main" val="1284192056"/>
                    </a:ext>
                  </a:extLst>
                </a:gridCol>
                <a:gridCol w="1401425">
                  <a:extLst>
                    <a:ext uri="{9D8B030D-6E8A-4147-A177-3AD203B41FA5}">
                      <a16:colId xmlns:a16="http://schemas.microsoft.com/office/drawing/2014/main" val="3729515373"/>
                    </a:ext>
                  </a:extLst>
                </a:gridCol>
                <a:gridCol w="1401425">
                  <a:extLst>
                    <a:ext uri="{9D8B030D-6E8A-4147-A177-3AD203B41FA5}">
                      <a16:colId xmlns:a16="http://schemas.microsoft.com/office/drawing/2014/main" val="4259032117"/>
                    </a:ext>
                  </a:extLst>
                </a:gridCol>
                <a:gridCol w="1401425">
                  <a:extLst>
                    <a:ext uri="{9D8B030D-6E8A-4147-A177-3AD203B41FA5}">
                      <a16:colId xmlns:a16="http://schemas.microsoft.com/office/drawing/2014/main" val="2450064338"/>
                    </a:ext>
                  </a:extLst>
                </a:gridCol>
                <a:gridCol w="1401425">
                  <a:extLst>
                    <a:ext uri="{9D8B030D-6E8A-4147-A177-3AD203B41FA5}">
                      <a16:colId xmlns:a16="http://schemas.microsoft.com/office/drawing/2014/main" val="3396039506"/>
                    </a:ext>
                  </a:extLst>
                </a:gridCol>
              </a:tblGrid>
              <a:tr h="539238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701856"/>
                  </a:ext>
                </a:extLst>
              </a:tr>
              <a:tr h="539238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Pregrency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3.845052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389374"/>
                  </a:ext>
                </a:extLst>
              </a:tr>
              <a:tr h="539238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Glucose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120.8945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431771"/>
                  </a:ext>
                </a:extLst>
              </a:tr>
              <a:tr h="539238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BloodPresure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69.10547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360672"/>
                  </a:ext>
                </a:extLst>
              </a:tr>
              <a:tr h="539238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SkinThickness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20.53646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964588"/>
                  </a:ext>
                </a:extLst>
              </a:tr>
              <a:tr h="539238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Insulin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79.79948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178798"/>
                  </a:ext>
                </a:extLst>
              </a:tr>
              <a:tr h="539238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BMI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31.99258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207795"/>
                  </a:ext>
                </a:extLst>
              </a:tr>
              <a:tr h="1078475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DiabetesPedigreeFunction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0.471876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844499"/>
                  </a:ext>
                </a:extLst>
              </a:tr>
              <a:tr h="539238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33.24089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493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17794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7620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11606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5" y="0"/>
                </a:lnTo>
                <a:lnTo>
                  <a:pt x="3700205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86000" y="647700"/>
            <a:ext cx="13182600" cy="9296400"/>
          </a:xfrm>
          <a:custGeom>
            <a:avLst/>
            <a:gdLst/>
            <a:ahLst/>
            <a:cxnLst/>
            <a:rect l="l" t="t" r="r" b="b"/>
            <a:pathLst>
              <a:path w="10184493" h="8966740">
                <a:moveTo>
                  <a:pt x="0" y="0"/>
                </a:moveTo>
                <a:lnTo>
                  <a:pt x="10184493" y="0"/>
                </a:lnTo>
                <a:lnTo>
                  <a:pt x="10184493" y="8966740"/>
                </a:lnTo>
                <a:lnTo>
                  <a:pt x="0" y="896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3000"/>
            </a:blip>
            <a:stretch>
              <a:fillRect t="-13580"/>
            </a:stretch>
          </a:blipFill>
        </p:spPr>
        <p:txBody>
          <a:bodyPr/>
          <a:lstStyle/>
          <a:p>
            <a:pPr algn="ctr"/>
            <a:r>
              <a:rPr lang="en-US" sz="4400" dirty="0">
                <a:latin typeface="+mj-lt"/>
              </a:rPr>
              <a:t>Univariant Bar Plot Of “Outcome”</a:t>
            </a:r>
            <a:endParaRPr lang="en-IN" sz="4400" dirty="0">
              <a:latin typeface="+mj-lt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692287" y="8448965"/>
            <a:ext cx="1618669" cy="1618669"/>
          </a:xfrm>
          <a:custGeom>
            <a:avLst/>
            <a:gdLst/>
            <a:ahLst/>
            <a:cxnLst/>
            <a:rect l="l" t="t" r="r" b="b"/>
            <a:pathLst>
              <a:path w="1618669" h="1618669">
                <a:moveTo>
                  <a:pt x="0" y="0"/>
                </a:moveTo>
                <a:lnTo>
                  <a:pt x="1618669" y="0"/>
                </a:lnTo>
                <a:lnTo>
                  <a:pt x="1618669" y="1618670"/>
                </a:lnTo>
                <a:lnTo>
                  <a:pt x="0" y="1618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627378" y="9625285"/>
            <a:ext cx="3388490" cy="44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188" spc="267">
                <a:solidFill>
                  <a:srgbClr val="101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www.sivaacademy.net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98844" y="971550"/>
            <a:ext cx="11290311" cy="98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endParaRPr dirty="0"/>
          </a:p>
          <a:p>
            <a:pPr algn="l">
              <a:lnSpc>
                <a:spcPts val="4004"/>
              </a:lnSpc>
            </a:pPr>
            <a:endParaRPr lang="en-US" sz="286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E6C6E-11FC-A0D3-1889-363CF663DDE7}"/>
              </a:ext>
            </a:extLst>
          </p:cNvPr>
          <p:cNvSpPr txBox="1"/>
          <p:nvPr/>
        </p:nvSpPr>
        <p:spPr>
          <a:xfrm>
            <a:off x="5105399" y="7672546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The plot shows that of the 768 data,500 are non-diabetic and 268 are diabetic</a:t>
            </a:r>
            <a:endParaRPr lang="en-IN" sz="3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5F7A72-2AE6-C9D2-F345-76BD52A6C6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3684" y="1414125"/>
            <a:ext cx="9417516" cy="64521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3F0C-303D-5068-583A-D168A38E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C56F47-1796-DA13-AB19-967D642764BD}"/>
              </a:ext>
            </a:extLst>
          </p:cNvPr>
          <p:cNvSpPr/>
          <p:nvPr/>
        </p:nvSpPr>
        <p:spPr>
          <a:xfrm flipV="1">
            <a:off x="-7620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8A12CCB-07FA-8746-28EF-FF5329358C52}"/>
              </a:ext>
            </a:extLst>
          </p:cNvPr>
          <p:cNvSpPr/>
          <p:nvPr/>
        </p:nvSpPr>
        <p:spPr>
          <a:xfrm>
            <a:off x="14611606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5" y="0"/>
                </a:lnTo>
                <a:lnTo>
                  <a:pt x="3700205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CB48E9C-3DAD-62BB-0A03-C114A64F8F0F}"/>
              </a:ext>
            </a:extLst>
          </p:cNvPr>
          <p:cNvSpPr/>
          <p:nvPr/>
        </p:nvSpPr>
        <p:spPr>
          <a:xfrm>
            <a:off x="4331448" y="1200535"/>
            <a:ext cx="7669893" cy="7664362"/>
          </a:xfrm>
          <a:custGeom>
            <a:avLst/>
            <a:gdLst/>
            <a:ahLst/>
            <a:cxnLst/>
            <a:rect l="l" t="t" r="r" b="b"/>
            <a:pathLst>
              <a:path w="10184493" h="8966740">
                <a:moveTo>
                  <a:pt x="0" y="0"/>
                </a:moveTo>
                <a:lnTo>
                  <a:pt x="10184493" y="0"/>
                </a:lnTo>
                <a:lnTo>
                  <a:pt x="10184493" y="8966740"/>
                </a:lnTo>
                <a:lnTo>
                  <a:pt x="0" y="896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3000"/>
            </a:blip>
            <a:stretch>
              <a:fillRect t="-13580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60201F0-E07D-06E9-3C0F-049EB18D7B5A}"/>
              </a:ext>
            </a:extLst>
          </p:cNvPr>
          <p:cNvSpPr/>
          <p:nvPr/>
        </p:nvSpPr>
        <p:spPr>
          <a:xfrm>
            <a:off x="14692287" y="8448965"/>
            <a:ext cx="1618669" cy="1618669"/>
          </a:xfrm>
          <a:custGeom>
            <a:avLst/>
            <a:gdLst/>
            <a:ahLst/>
            <a:cxnLst/>
            <a:rect l="l" t="t" r="r" b="b"/>
            <a:pathLst>
              <a:path w="1618669" h="1618669">
                <a:moveTo>
                  <a:pt x="0" y="0"/>
                </a:moveTo>
                <a:lnTo>
                  <a:pt x="1618669" y="0"/>
                </a:lnTo>
                <a:lnTo>
                  <a:pt x="1618669" y="1618670"/>
                </a:lnTo>
                <a:lnTo>
                  <a:pt x="0" y="1618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1C6FBF4-D3E2-C7BC-2C2F-FE0D521F9BA0}"/>
              </a:ext>
            </a:extLst>
          </p:cNvPr>
          <p:cNvSpPr txBox="1"/>
          <p:nvPr/>
        </p:nvSpPr>
        <p:spPr>
          <a:xfrm>
            <a:off x="7627378" y="9625285"/>
            <a:ext cx="3388490" cy="44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188" spc="267">
                <a:solidFill>
                  <a:srgbClr val="101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www.sivaacademy.net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6E854A1-199A-9E65-5E3B-4AD6F4C283C2}"/>
              </a:ext>
            </a:extLst>
          </p:cNvPr>
          <p:cNvSpPr txBox="1"/>
          <p:nvPr/>
        </p:nvSpPr>
        <p:spPr>
          <a:xfrm>
            <a:off x="3498844" y="971550"/>
            <a:ext cx="11290311" cy="98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endParaRPr dirty="0"/>
          </a:p>
          <a:p>
            <a:pPr algn="l">
              <a:lnSpc>
                <a:spcPts val="4004"/>
              </a:lnSpc>
            </a:pPr>
            <a:endParaRPr lang="en-US" sz="286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8F5384-5DE1-2E78-108F-8BE9A8BC50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1183" y="1950532"/>
            <a:ext cx="8419941" cy="72537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143DEF-C552-B0D0-2B35-44B0DA8A4B23}"/>
              </a:ext>
            </a:extLst>
          </p:cNvPr>
          <p:cNvSpPr txBox="1"/>
          <p:nvPr/>
        </p:nvSpPr>
        <p:spPr>
          <a:xfrm>
            <a:off x="4800600" y="495300"/>
            <a:ext cx="75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Co-Relationship between features</a:t>
            </a:r>
            <a:endParaRPr lang="en-IN" sz="4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27449E-523D-7AC8-6DDD-54496777C60C}"/>
              </a:ext>
            </a:extLst>
          </p:cNvPr>
          <p:cNvSpPr txBox="1"/>
          <p:nvPr/>
        </p:nvSpPr>
        <p:spPr>
          <a:xfrm>
            <a:off x="10363200" y="1960923"/>
            <a:ext cx="6477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3600" dirty="0"/>
              <a:t>There is strong correlation between following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Glucose and Diabetes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Skin Thickness  &amp; Insulin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81929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8927C-BA20-698C-DE86-37C197151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BD7BA78-3B9C-95EF-F02E-4591AF24EE28}"/>
              </a:ext>
            </a:extLst>
          </p:cNvPr>
          <p:cNvSpPr/>
          <p:nvPr/>
        </p:nvSpPr>
        <p:spPr>
          <a:xfrm flipV="1">
            <a:off x="-7620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95FA5FE-30EA-423F-B372-9BF407CBCAF7}"/>
              </a:ext>
            </a:extLst>
          </p:cNvPr>
          <p:cNvSpPr/>
          <p:nvPr/>
        </p:nvSpPr>
        <p:spPr>
          <a:xfrm>
            <a:off x="14611606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5" y="0"/>
                </a:lnTo>
                <a:lnTo>
                  <a:pt x="3700205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9A54984-307C-BF2D-E650-E31B01345417}"/>
              </a:ext>
            </a:extLst>
          </p:cNvPr>
          <p:cNvSpPr/>
          <p:nvPr/>
        </p:nvSpPr>
        <p:spPr>
          <a:xfrm>
            <a:off x="4427113" y="1181100"/>
            <a:ext cx="10184493" cy="7664362"/>
          </a:xfrm>
          <a:custGeom>
            <a:avLst/>
            <a:gdLst/>
            <a:ahLst/>
            <a:cxnLst/>
            <a:rect l="l" t="t" r="r" b="b"/>
            <a:pathLst>
              <a:path w="10184493" h="8966740">
                <a:moveTo>
                  <a:pt x="0" y="0"/>
                </a:moveTo>
                <a:lnTo>
                  <a:pt x="10184493" y="0"/>
                </a:lnTo>
                <a:lnTo>
                  <a:pt x="10184493" y="8966740"/>
                </a:lnTo>
                <a:lnTo>
                  <a:pt x="0" y="896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3000"/>
            </a:blip>
            <a:stretch>
              <a:fillRect t="-13580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1B06023-9FB7-D4ED-5A2E-CF3A36FFF5DF}"/>
              </a:ext>
            </a:extLst>
          </p:cNvPr>
          <p:cNvSpPr/>
          <p:nvPr/>
        </p:nvSpPr>
        <p:spPr>
          <a:xfrm>
            <a:off x="14692287" y="8448965"/>
            <a:ext cx="1618669" cy="1618669"/>
          </a:xfrm>
          <a:custGeom>
            <a:avLst/>
            <a:gdLst/>
            <a:ahLst/>
            <a:cxnLst/>
            <a:rect l="l" t="t" r="r" b="b"/>
            <a:pathLst>
              <a:path w="1618669" h="1618669">
                <a:moveTo>
                  <a:pt x="0" y="0"/>
                </a:moveTo>
                <a:lnTo>
                  <a:pt x="1618669" y="0"/>
                </a:lnTo>
                <a:lnTo>
                  <a:pt x="1618669" y="1618670"/>
                </a:lnTo>
                <a:lnTo>
                  <a:pt x="0" y="1618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6A2488F-2AE2-178D-E66F-20D9E6271EA7}"/>
              </a:ext>
            </a:extLst>
          </p:cNvPr>
          <p:cNvSpPr txBox="1"/>
          <p:nvPr/>
        </p:nvSpPr>
        <p:spPr>
          <a:xfrm>
            <a:off x="7627378" y="9625285"/>
            <a:ext cx="3388490" cy="44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188" spc="267">
                <a:solidFill>
                  <a:srgbClr val="101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www.sivaacademy.net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BF98B4D-CDF4-80A1-CBBA-89C1DDE6EC2C}"/>
              </a:ext>
            </a:extLst>
          </p:cNvPr>
          <p:cNvSpPr txBox="1"/>
          <p:nvPr/>
        </p:nvSpPr>
        <p:spPr>
          <a:xfrm>
            <a:off x="3200400" y="686413"/>
            <a:ext cx="11290311" cy="98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endParaRPr dirty="0"/>
          </a:p>
          <a:p>
            <a:pPr algn="ctr">
              <a:lnSpc>
                <a:spcPts val="4004"/>
              </a:lnSpc>
            </a:pPr>
            <a:r>
              <a:rPr lang="en-US" sz="286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Bivariate Analysis in Diabetic Patient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AEAAB8-0470-1CAA-2356-21D060B3DB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262" y="1790700"/>
            <a:ext cx="7991475" cy="55816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4E567B-29DC-BE5C-C24C-FE84019B4672}"/>
              </a:ext>
            </a:extLst>
          </p:cNvPr>
          <p:cNvSpPr txBox="1"/>
          <p:nvPr/>
        </p:nvSpPr>
        <p:spPr>
          <a:xfrm>
            <a:off x="5334000" y="7658100"/>
            <a:ext cx="8534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Correlation between the Glucose and Insulin. In case of Higer glucose, the insulin level is slightly elevated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59682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2F017-524A-746D-F1F3-27FA1644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4A057D-BC27-A666-2D64-7409640362C2}"/>
              </a:ext>
            </a:extLst>
          </p:cNvPr>
          <p:cNvSpPr/>
          <p:nvPr/>
        </p:nvSpPr>
        <p:spPr>
          <a:xfrm flipV="1">
            <a:off x="-7620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15C8323-9FA6-5B87-D79E-96DF3A05337B}"/>
              </a:ext>
            </a:extLst>
          </p:cNvPr>
          <p:cNvSpPr/>
          <p:nvPr/>
        </p:nvSpPr>
        <p:spPr>
          <a:xfrm>
            <a:off x="14611606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5" y="0"/>
                </a:lnTo>
                <a:lnTo>
                  <a:pt x="3700205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C996A20-540D-310D-3FA4-1681F9914B33}"/>
              </a:ext>
            </a:extLst>
          </p:cNvPr>
          <p:cNvSpPr/>
          <p:nvPr/>
        </p:nvSpPr>
        <p:spPr>
          <a:xfrm>
            <a:off x="4507794" y="977966"/>
            <a:ext cx="10184493" cy="7664362"/>
          </a:xfrm>
          <a:custGeom>
            <a:avLst/>
            <a:gdLst/>
            <a:ahLst/>
            <a:cxnLst/>
            <a:rect l="l" t="t" r="r" b="b"/>
            <a:pathLst>
              <a:path w="10184493" h="8966740">
                <a:moveTo>
                  <a:pt x="0" y="0"/>
                </a:moveTo>
                <a:lnTo>
                  <a:pt x="10184493" y="0"/>
                </a:lnTo>
                <a:lnTo>
                  <a:pt x="10184493" y="8966740"/>
                </a:lnTo>
                <a:lnTo>
                  <a:pt x="0" y="896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3000"/>
            </a:blip>
            <a:stretch>
              <a:fillRect t="-13580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A1EDBE4-5F18-15FD-FF3F-C222BC4AD38F}"/>
              </a:ext>
            </a:extLst>
          </p:cNvPr>
          <p:cNvSpPr/>
          <p:nvPr/>
        </p:nvSpPr>
        <p:spPr>
          <a:xfrm>
            <a:off x="14692287" y="8448965"/>
            <a:ext cx="1618669" cy="1618669"/>
          </a:xfrm>
          <a:custGeom>
            <a:avLst/>
            <a:gdLst/>
            <a:ahLst/>
            <a:cxnLst/>
            <a:rect l="l" t="t" r="r" b="b"/>
            <a:pathLst>
              <a:path w="1618669" h="1618669">
                <a:moveTo>
                  <a:pt x="0" y="0"/>
                </a:moveTo>
                <a:lnTo>
                  <a:pt x="1618669" y="0"/>
                </a:lnTo>
                <a:lnTo>
                  <a:pt x="1618669" y="1618670"/>
                </a:lnTo>
                <a:lnTo>
                  <a:pt x="0" y="1618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2091F50-1A83-BACA-F2F4-177A76908382}"/>
              </a:ext>
            </a:extLst>
          </p:cNvPr>
          <p:cNvSpPr txBox="1"/>
          <p:nvPr/>
        </p:nvSpPr>
        <p:spPr>
          <a:xfrm>
            <a:off x="7627378" y="9625285"/>
            <a:ext cx="3388490" cy="44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188" spc="267">
                <a:solidFill>
                  <a:srgbClr val="101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www.sivaacademy.net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14C5290-FBF0-E7F4-75B4-E409962F0AA1}"/>
              </a:ext>
            </a:extLst>
          </p:cNvPr>
          <p:cNvSpPr txBox="1"/>
          <p:nvPr/>
        </p:nvSpPr>
        <p:spPr>
          <a:xfrm>
            <a:off x="3200400" y="686413"/>
            <a:ext cx="11290311" cy="98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endParaRPr dirty="0"/>
          </a:p>
          <a:p>
            <a:pPr algn="ctr">
              <a:lnSpc>
                <a:spcPts val="4004"/>
              </a:lnSpc>
            </a:pPr>
            <a:r>
              <a:rPr lang="en-US" sz="286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Bivariate Analysis in Diabetic Patient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803AE-C787-A9F2-B582-917A7B71D110}"/>
              </a:ext>
            </a:extLst>
          </p:cNvPr>
          <p:cNvSpPr txBox="1"/>
          <p:nvPr/>
        </p:nvSpPr>
        <p:spPr>
          <a:xfrm>
            <a:off x="5334000" y="7658100"/>
            <a:ext cx="8534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Correlation between the BMI and </a:t>
            </a:r>
            <a:r>
              <a:rPr lang="en-US" sz="2800" dirty="0" err="1"/>
              <a:t>SkinThickness</a:t>
            </a:r>
            <a:r>
              <a:rPr lang="en-US" sz="2800" dirty="0"/>
              <a:t>. In case of diabetic patient, the skin thickness tend to be higher compared to non-diabetic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FD26E8-B0D0-BD8A-70D7-3603E9FCD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1982569"/>
            <a:ext cx="8001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54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BB1BC-C178-73B3-F772-31C7C2F8F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CC36F40-C3C3-BC0F-4A24-27B9CD67A7FA}"/>
              </a:ext>
            </a:extLst>
          </p:cNvPr>
          <p:cNvSpPr/>
          <p:nvPr/>
        </p:nvSpPr>
        <p:spPr>
          <a:xfrm flipV="1">
            <a:off x="-7620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C990777-7373-9121-1483-44EBBEB825D3}"/>
              </a:ext>
            </a:extLst>
          </p:cNvPr>
          <p:cNvSpPr/>
          <p:nvPr/>
        </p:nvSpPr>
        <p:spPr>
          <a:xfrm>
            <a:off x="14611606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5" y="0"/>
                </a:lnTo>
                <a:lnTo>
                  <a:pt x="3700205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DD94FD1-1EDB-F86A-6EAA-4C44416CB6B8}"/>
              </a:ext>
            </a:extLst>
          </p:cNvPr>
          <p:cNvSpPr/>
          <p:nvPr/>
        </p:nvSpPr>
        <p:spPr>
          <a:xfrm>
            <a:off x="4331448" y="1200535"/>
            <a:ext cx="10184493" cy="7664362"/>
          </a:xfrm>
          <a:custGeom>
            <a:avLst/>
            <a:gdLst/>
            <a:ahLst/>
            <a:cxnLst/>
            <a:rect l="l" t="t" r="r" b="b"/>
            <a:pathLst>
              <a:path w="10184493" h="8966740">
                <a:moveTo>
                  <a:pt x="0" y="0"/>
                </a:moveTo>
                <a:lnTo>
                  <a:pt x="10184493" y="0"/>
                </a:lnTo>
                <a:lnTo>
                  <a:pt x="10184493" y="8966740"/>
                </a:lnTo>
                <a:lnTo>
                  <a:pt x="0" y="896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3000"/>
            </a:blip>
            <a:stretch>
              <a:fillRect t="-13580"/>
            </a:stretch>
          </a:blipFill>
        </p:spPr>
        <p:txBody>
          <a:bodyPr/>
          <a:lstStyle/>
          <a:p>
            <a:pPr algn="ctr"/>
            <a:r>
              <a:rPr lang="en-US" sz="4400" dirty="0"/>
              <a:t>INSIGHT</a:t>
            </a:r>
          </a:p>
          <a:p>
            <a:pPr algn="ctr"/>
            <a:endParaRPr lang="en-US" sz="44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dirty="0"/>
              <a:t>Of the many features Glucose parameter tend to have strong indication for Diabetes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dirty="0"/>
              <a:t>There is slight corelation between Glucose and Insulin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dirty="0"/>
              <a:t>Skin thickness has direct association with overweight, which in turn tend to have impact on diabetes.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2375E56-7134-DD88-6AA9-C855FCCA0E4F}"/>
              </a:ext>
            </a:extLst>
          </p:cNvPr>
          <p:cNvSpPr/>
          <p:nvPr/>
        </p:nvSpPr>
        <p:spPr>
          <a:xfrm>
            <a:off x="14692287" y="8448965"/>
            <a:ext cx="1618669" cy="1618669"/>
          </a:xfrm>
          <a:custGeom>
            <a:avLst/>
            <a:gdLst/>
            <a:ahLst/>
            <a:cxnLst/>
            <a:rect l="l" t="t" r="r" b="b"/>
            <a:pathLst>
              <a:path w="1618669" h="1618669">
                <a:moveTo>
                  <a:pt x="0" y="0"/>
                </a:moveTo>
                <a:lnTo>
                  <a:pt x="1618669" y="0"/>
                </a:lnTo>
                <a:lnTo>
                  <a:pt x="1618669" y="1618670"/>
                </a:lnTo>
                <a:lnTo>
                  <a:pt x="0" y="1618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48D716F-3B9C-9FAC-B23F-E3645F6DC833}"/>
              </a:ext>
            </a:extLst>
          </p:cNvPr>
          <p:cNvSpPr txBox="1"/>
          <p:nvPr/>
        </p:nvSpPr>
        <p:spPr>
          <a:xfrm>
            <a:off x="7627378" y="9625285"/>
            <a:ext cx="3388490" cy="44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188" spc="267">
                <a:solidFill>
                  <a:srgbClr val="101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www.sivaacademy.net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EB7F94-215A-FB04-94B3-1664EBA1B784}"/>
              </a:ext>
            </a:extLst>
          </p:cNvPr>
          <p:cNvSpPr txBox="1"/>
          <p:nvPr/>
        </p:nvSpPr>
        <p:spPr>
          <a:xfrm>
            <a:off x="3498844" y="971550"/>
            <a:ext cx="11290311" cy="98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endParaRPr dirty="0"/>
          </a:p>
          <a:p>
            <a:pPr algn="l">
              <a:lnSpc>
                <a:spcPts val="4004"/>
              </a:lnSpc>
            </a:pPr>
            <a:endParaRPr lang="en-US" sz="286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2346438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3066628" cy="10287000"/>
          </a:xfrm>
          <a:custGeom>
            <a:avLst/>
            <a:gdLst/>
            <a:ahLst/>
            <a:cxnLst/>
            <a:rect l="l" t="t" r="r" b="b"/>
            <a:pathLst>
              <a:path w="13066628" h="10287000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95198" y="6441577"/>
            <a:ext cx="6175079" cy="206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10"/>
              </a:lnSpc>
            </a:pPr>
            <a:r>
              <a:rPr lang="en-US" sz="12007" b="1" i="1">
                <a:solidFill>
                  <a:srgbClr val="0F1337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11863667" y="3273301"/>
            <a:ext cx="3289255" cy="3067578"/>
          </a:xfrm>
          <a:custGeom>
            <a:avLst/>
            <a:gdLst/>
            <a:ahLst/>
            <a:cxnLst/>
            <a:rect l="l" t="t" r="r" b="b"/>
            <a:pathLst>
              <a:path w="3289255" h="3067578">
                <a:moveTo>
                  <a:pt x="0" y="0"/>
                </a:moveTo>
                <a:lnTo>
                  <a:pt x="3289255" y="0"/>
                </a:lnTo>
                <a:lnTo>
                  <a:pt x="3289255" y="3067578"/>
                </a:lnTo>
                <a:lnTo>
                  <a:pt x="0" y="3067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22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2980</TotalTime>
  <Words>447</Words>
  <Application>Microsoft Office PowerPoint</Application>
  <PresentationFormat>Custom</PresentationFormat>
  <Paragraphs>144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Cormorant Garamond Italics</vt:lpstr>
      <vt:lpstr>Wingdings</vt:lpstr>
      <vt:lpstr>Calibri</vt:lpstr>
      <vt:lpstr>Arial</vt:lpstr>
      <vt:lpstr>Cormorant Garamond Bold Italics</vt:lpstr>
      <vt:lpstr>Inter</vt:lpstr>
      <vt:lpstr>Glacial Indifference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MYSQL</dc:title>
  <dc:creator>Manoj Rapaka</dc:creator>
  <cp:lastModifiedBy>Ajit Ashok</cp:lastModifiedBy>
  <cp:revision>20</cp:revision>
  <dcterms:created xsi:type="dcterms:W3CDTF">2006-08-16T00:00:00Z</dcterms:created>
  <dcterms:modified xsi:type="dcterms:W3CDTF">2025-09-25T02:33:37Z</dcterms:modified>
  <dc:identifier>DAGZzW9Wt4U</dc:identifier>
</cp:coreProperties>
</file>